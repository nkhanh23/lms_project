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EF01A"/>
          </a:solidFill>
          <a:ln w="12700">
            <a:solidFill>
              <a:srgbClr val="9EF0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73152"/>
            <a:ext cx="2487168" cy="6784848"/>
          </a:xfrm>
          <a:prstGeom prst="rect">
            <a:avLst/>
          </a:prstGeom>
          <a:solidFill>
            <a:srgbClr val="111827">
              <a:alpha val="92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STACKLEARN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13232" y="2157984"/>
            <a:ext cx="6720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thống học trực tuyến tích hợp AI Tutor hỗ trợ học tập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" y="2907792"/>
            <a:ext cx="868680" cy="301752"/>
          </a:xfrm>
          <a:prstGeom prst="rect">
            <a:avLst/>
          </a:prstGeom>
          <a:solidFill>
            <a:srgbClr val="9EF01A"/>
          </a:solidFill>
          <a:ln w="9525">
            <a:solidFill>
              <a:srgbClr val="9EF0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80944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LMS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212848" y="2907792"/>
            <a:ext cx="868680" cy="301752"/>
          </a:xfrm>
          <a:prstGeom prst="rect">
            <a:avLst/>
          </a:prstGeom>
          <a:solidFill>
            <a:srgbClr val="38BDF8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12848" y="2980944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675888" y="2907792"/>
            <a:ext cx="1691640" cy="301752"/>
          </a:xfrm>
          <a:prstGeom prst="rect">
            <a:avLst/>
          </a:prstGeom>
          <a:solidFill>
            <a:srgbClr val="FBBF24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75888" y="2980944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LEARNING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749808" y="507492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Nguyễn Ngọc Khánh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Giảng viên hướng dẫn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Đồ án tốt nghiệp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406640" y="960120"/>
            <a:ext cx="4297680" cy="2103120"/>
          </a:xfrm>
          <a:prstGeom prst="rect">
            <a:avLst/>
          </a:prstGeom>
          <a:solidFill>
            <a:srgbClr val="263449"/>
          </a:solidFill>
          <a:ln w="9525">
            <a:solidFill>
              <a:srgbClr val="475569"/>
            </a:solidFill>
            <a:prstDash val="solid"/>
          </a:ln>
        </p:spPr>
      </p:sp>
      <p:pic>
        <p:nvPicPr>
          <p:cNvPr id="15" name="Image 0" descr="C:\xampp\htdocs\LMS\StackLearn\outputs\manual-stacklearn-ppt\assets\docx_media\word\media\image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0648" y="1024128"/>
            <a:ext cx="4169664" cy="171907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516368" y="2807208"/>
            <a:ext cx="4078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Trang chủ StackLearn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7406640" y="3429000"/>
            <a:ext cx="4297680" cy="2103120"/>
          </a:xfrm>
          <a:prstGeom prst="rect">
            <a:avLst/>
          </a:prstGeom>
          <a:solidFill>
            <a:srgbClr val="263449"/>
          </a:solidFill>
          <a:ln w="9525">
            <a:solidFill>
              <a:srgbClr val="475569"/>
            </a:solidFill>
            <a:prstDash val="solid"/>
          </a:ln>
        </p:spPr>
      </p:sp>
      <p:pic>
        <p:nvPicPr>
          <p:cNvPr id="18" name="Image 1" descr="C:\xampp\htdocs\LMS\StackLearn\outputs\manual-stacklearn-ppt\assets\docx_media\word\media\image2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648" y="3493008"/>
            <a:ext cx="4169664" cy="171907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516368" y="5276088"/>
            <a:ext cx="4078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Tutor trong bài học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41148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StackLearn | LMS + AI Tutor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1133856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EF01A"/>
          </a:solidFill>
          <a:ln w="12700">
            <a:solidFill>
              <a:srgbClr val="9EF0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73152"/>
            <a:ext cx="2487168" cy="6784848"/>
          </a:xfrm>
          <a:prstGeom prst="rect">
            <a:avLst/>
          </a:prstGeom>
          <a:solidFill>
            <a:srgbClr val="111827">
              <a:alpha val="92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EF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BÀI TOÁN THỰC TẾ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2179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trực tuyến phát triển mạnh, nhưng hỗ trợ học tập vẫn chưa tức thời.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StackLearn | LMS + AI Tutor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77240" y="1965960"/>
            <a:ext cx="2240280" cy="713232"/>
          </a:xfrm>
          <a:prstGeom prst="rect">
            <a:avLst/>
          </a:prstGeom>
          <a:solidFill>
            <a:srgbClr val="1F2937"/>
          </a:solidFill>
          <a:ln w="9525">
            <a:solidFill>
              <a:srgbClr val="F871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2212848"/>
            <a:ext cx="2093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viên khó hỏi đáp ngay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66160" y="1965960"/>
            <a:ext cx="2240280" cy="713232"/>
          </a:xfrm>
          <a:prstGeom prst="rect">
            <a:avLst/>
          </a:prstGeom>
          <a:solidFill>
            <a:srgbClr val="1F2937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9312" y="2212848"/>
            <a:ext cx="2093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Giảng viên không hỗ trợ 24/7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55080" y="1965960"/>
            <a:ext cx="2240280" cy="713232"/>
          </a:xfrm>
          <a:prstGeom prst="rect">
            <a:avLst/>
          </a:prstGeom>
          <a:solidFill>
            <a:srgbClr val="1F2937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8232" y="2212848"/>
            <a:ext cx="2093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LMS truyền thống chỉ quản lý khóa học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0" y="1965960"/>
            <a:ext cx="2240280" cy="713232"/>
          </a:xfrm>
          <a:prstGeom prst="rect">
            <a:avLst/>
          </a:prstGeom>
          <a:solidFill>
            <a:srgbClr val="1F2937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17152" y="2212848"/>
            <a:ext cx="2093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Chưa cá nhân hóa việc học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828800" y="2971800"/>
            <a:ext cx="0" cy="685800"/>
          </a:xfrm>
          <a:prstGeom prst="line">
            <a:avLst/>
          </a:prstGeom>
          <a:noFill/>
          <a:ln w="15875">
            <a:solidFill>
              <a:srgbClr val="9EF01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617720" y="2971800"/>
            <a:ext cx="0" cy="685800"/>
          </a:xfrm>
          <a:prstGeom prst="line">
            <a:avLst/>
          </a:prstGeom>
          <a:noFill/>
          <a:ln w="15875">
            <a:solidFill>
              <a:srgbClr val="9EF01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406640" y="2971800"/>
            <a:ext cx="0" cy="685800"/>
          </a:xfrm>
          <a:prstGeom prst="line">
            <a:avLst/>
          </a:prstGeom>
          <a:noFill/>
          <a:ln w="15875">
            <a:solidFill>
              <a:srgbClr val="9EF01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195560" y="2971800"/>
            <a:ext cx="0" cy="685800"/>
          </a:xfrm>
          <a:prstGeom prst="line">
            <a:avLst/>
          </a:prstGeom>
          <a:noFill/>
          <a:ln w="15875">
            <a:solidFill>
              <a:srgbClr val="9EF01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011680" y="3977640"/>
            <a:ext cx="8183880" cy="1051560"/>
          </a:xfrm>
          <a:prstGeom prst="rect">
            <a:avLst/>
          </a:prstGeom>
          <a:solidFill>
            <a:srgbClr val="263449"/>
          </a:solidFill>
          <a:ln w="9525">
            <a:solidFill>
              <a:srgbClr val="9EF0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31720" y="4343400"/>
            <a:ext cx="754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Cần LMS tích hợp AI Tutor để giải đáp theo ngữ cảnh bài học ngay trong quá trình học.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EF01A"/>
          </a:solidFill>
          <a:ln w="12700">
            <a:solidFill>
              <a:srgbClr val="9EF0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73152"/>
            <a:ext cx="2487168" cy="6784848"/>
          </a:xfrm>
          <a:prstGeom prst="rect">
            <a:avLst/>
          </a:prstGeom>
          <a:solidFill>
            <a:srgbClr val="111827">
              <a:alpha val="92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EF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ĐỀ TÀI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2179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StackLearn kết hợp nền tảng LMS hoàn chỉnh với AI Tutor theo ngữ cảnh.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StackLearn | LMS + AI Tutor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22960" y="1691640"/>
            <a:ext cx="5074920" cy="4160520"/>
          </a:xfrm>
          <a:prstGeom prst="rect">
            <a:avLst/>
          </a:prstGeom>
          <a:solidFill>
            <a:srgbClr val="1F2937"/>
          </a:solidFill>
          <a:ln w="9525">
            <a:solidFill>
              <a:srgbClr val="9EF0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691640"/>
            <a:ext cx="5074920" cy="4160520"/>
          </a:xfrm>
          <a:prstGeom prst="rect">
            <a:avLst/>
          </a:prstGeom>
          <a:solidFill>
            <a:srgbClr val="1F2937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1993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EF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LMS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83680" y="19933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AI Tutor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143000" y="2679192"/>
            <a:ext cx="82296" cy="82296"/>
          </a:xfrm>
          <a:prstGeom prst="rect">
            <a:avLst/>
          </a:prstGeom>
          <a:solidFill>
            <a:srgbClr val="9EF01A"/>
          </a:solidFill>
          <a:ln w="12700">
            <a:solidFill>
              <a:srgbClr val="9EF0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44168" y="260604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học viên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143000" y="3136392"/>
            <a:ext cx="82296" cy="82296"/>
          </a:xfrm>
          <a:prstGeom prst="rect">
            <a:avLst/>
          </a:prstGeom>
          <a:solidFill>
            <a:srgbClr val="9EF01A"/>
          </a:solidFill>
          <a:ln w="12700">
            <a:solidFill>
              <a:srgbClr val="9EF0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44168" y="306324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giảng viên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143000" y="3593592"/>
            <a:ext cx="82296" cy="82296"/>
          </a:xfrm>
          <a:prstGeom prst="rect">
            <a:avLst/>
          </a:prstGeom>
          <a:solidFill>
            <a:srgbClr val="9EF01A"/>
          </a:solidFill>
          <a:ln w="12700">
            <a:solidFill>
              <a:srgbClr val="9EF0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44168" y="352044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khóa học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143000" y="4050792"/>
            <a:ext cx="82296" cy="82296"/>
          </a:xfrm>
          <a:prstGeom prst="rect">
            <a:avLst/>
          </a:prstGeom>
          <a:solidFill>
            <a:srgbClr val="9EF01A"/>
          </a:solidFill>
          <a:ln w="12700">
            <a:solidFill>
              <a:srgbClr val="9EF0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44168" y="397764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Thanh toán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1143000" y="4507992"/>
            <a:ext cx="82296" cy="82296"/>
          </a:xfrm>
          <a:prstGeom prst="rect">
            <a:avLst/>
          </a:prstGeom>
          <a:solidFill>
            <a:srgbClr val="9EF01A"/>
          </a:solidFill>
          <a:ln w="12700">
            <a:solidFill>
              <a:srgbClr val="9EF0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44168" y="443484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 dõi tiến độ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583680" y="2679192"/>
            <a:ext cx="82296" cy="8229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84848" y="260604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Hỏi đáp thông minh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583680" y="3136392"/>
            <a:ext cx="82296" cy="8229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84848" y="306324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Hỗ trợ học tập theo ngữ cảnh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583680" y="3593592"/>
            <a:ext cx="82296" cy="8229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84848" y="352044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Tích hợp Gemini API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583680" y="4050792"/>
            <a:ext cx="82296" cy="8229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84848" y="397764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lịch sử hội thoại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583680" y="4507992"/>
            <a:ext cx="82296" cy="8229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84848" y="443484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Khai thác transcript bài giảng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EF01A"/>
          </a:solidFill>
          <a:ln w="12700">
            <a:solidFill>
              <a:srgbClr val="9EF0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73152"/>
            <a:ext cx="2487168" cy="6784848"/>
          </a:xfrm>
          <a:prstGeom prst="rect">
            <a:avLst/>
          </a:prstGeom>
          <a:solidFill>
            <a:srgbClr val="111827">
              <a:alpha val="92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EF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GIẢI PHÁP STACKLEARN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2179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LMS và AI Tutor được đặt trong cùng một nền tảng học tập.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StackLearn | LMS + AI Tutor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68680" y="1828800"/>
            <a:ext cx="1965960" cy="640080"/>
          </a:xfrm>
          <a:prstGeom prst="rect">
            <a:avLst/>
          </a:prstGeom>
          <a:solidFill>
            <a:srgbClr val="1F2937"/>
          </a:solidFill>
          <a:ln w="9525">
            <a:solidFill>
              <a:srgbClr val="9EF0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2039112"/>
            <a:ext cx="1819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11880" y="1828800"/>
            <a:ext cx="1965960" cy="640080"/>
          </a:xfrm>
          <a:prstGeom prst="rect">
            <a:avLst/>
          </a:prstGeom>
          <a:solidFill>
            <a:srgbClr val="1F2937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85032" y="2039112"/>
            <a:ext cx="1819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55080" y="1828800"/>
            <a:ext cx="1965960" cy="640080"/>
          </a:xfrm>
          <a:prstGeom prst="rect">
            <a:avLst/>
          </a:prstGeom>
          <a:solidFill>
            <a:srgbClr val="1F2937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8232" y="2039112"/>
            <a:ext cx="1819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43400" y="2971800"/>
            <a:ext cx="3474720" cy="804672"/>
          </a:xfrm>
          <a:prstGeom prst="rect">
            <a:avLst/>
          </a:prstGeom>
          <a:solidFill>
            <a:srgbClr val="1F2937"/>
          </a:solidFill>
          <a:ln w="9525">
            <a:solidFill>
              <a:srgbClr val="9EF0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16552" y="3264408"/>
            <a:ext cx="3328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StackLearn LMS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892040" y="4572000"/>
            <a:ext cx="2377440" cy="658368"/>
          </a:xfrm>
          <a:prstGeom prst="rect">
            <a:avLst/>
          </a:prstGeom>
          <a:solidFill>
            <a:srgbClr val="1F2937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65192" y="4791456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Tutor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778240" y="4572000"/>
            <a:ext cx="2240280" cy="658368"/>
          </a:xfrm>
          <a:prstGeom prst="rect">
            <a:avLst/>
          </a:prstGeom>
          <a:solidFill>
            <a:srgbClr val="1F2937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51392" y="4791456"/>
            <a:ext cx="2093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API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794760" y="2560320"/>
            <a:ext cx="1874520" cy="502920"/>
          </a:xfrm>
          <a:prstGeom prst="line">
            <a:avLst/>
          </a:prstGeom>
          <a:noFill/>
          <a:ln w="15875">
            <a:solidFill>
              <a:srgbClr val="9EF01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080760" y="3822192"/>
            <a:ext cx="0" cy="612648"/>
          </a:xfrm>
          <a:prstGeom prst="line">
            <a:avLst/>
          </a:prstGeom>
          <a:noFill/>
          <a:ln w="15875">
            <a:solidFill>
              <a:srgbClr val="9EF01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296912" y="4892040"/>
            <a:ext cx="1344168" cy="0"/>
          </a:xfrm>
          <a:prstGeom prst="line">
            <a:avLst/>
          </a:prstGeom>
          <a:noFill/>
          <a:ln w="15875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68680" y="4617720"/>
            <a:ext cx="2834640" cy="868680"/>
          </a:xfrm>
          <a:prstGeom prst="rect">
            <a:avLst/>
          </a:prstGeom>
          <a:solidFill>
            <a:srgbClr val="263449"/>
          </a:solidFill>
          <a:ln w="9525">
            <a:solidFill>
              <a:srgbClr val="9EF0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78992" y="486460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viên không rời khỏi bài học vẫn có thể hỏi AI theo nội dung đang học.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EF01A"/>
          </a:solidFill>
          <a:ln w="12700">
            <a:solidFill>
              <a:srgbClr val="9EF0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73152"/>
            <a:ext cx="2487168" cy="6784848"/>
          </a:xfrm>
          <a:prstGeom prst="rect">
            <a:avLst/>
          </a:prstGeom>
          <a:solidFill>
            <a:srgbClr val="111827">
              <a:alpha val="92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EF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 HỆ THỐNG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2179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Luồng web MVC kết nối dữ liệu học tập và dịch vụ AI bên ngoài.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StackLearn | LMS + AI Tutor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77240" y="2240280"/>
            <a:ext cx="2057400" cy="868680"/>
          </a:xfrm>
          <a:prstGeom prst="rect">
            <a:avLst/>
          </a:prstGeom>
          <a:solidFill>
            <a:srgbClr val="1F2937"/>
          </a:solidFill>
          <a:ln w="9525">
            <a:solidFill>
              <a:srgbClr val="9EF0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2564892"/>
            <a:ext cx="1911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880360" y="2679192"/>
            <a:ext cx="411480" cy="0"/>
          </a:xfrm>
          <a:prstGeom prst="line">
            <a:avLst/>
          </a:prstGeom>
          <a:noFill/>
          <a:ln w="15875">
            <a:solidFill>
              <a:srgbClr val="9EF01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429000" y="2240280"/>
            <a:ext cx="2057400" cy="868680"/>
          </a:xfrm>
          <a:prstGeom prst="rect">
            <a:avLst/>
          </a:prstGeom>
          <a:solidFill>
            <a:srgbClr val="1F2937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02152" y="2564892"/>
            <a:ext cx="1911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Laravel Backend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532120" y="2679192"/>
            <a:ext cx="457200" cy="0"/>
          </a:xfrm>
          <a:prstGeom prst="line">
            <a:avLst/>
          </a:prstGeom>
          <a:noFill/>
          <a:ln w="15875">
            <a:solidFill>
              <a:srgbClr val="9EF01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126480" y="2240280"/>
            <a:ext cx="2057400" cy="868680"/>
          </a:xfrm>
          <a:prstGeom prst="rect">
            <a:avLst/>
          </a:prstGeom>
          <a:solidFill>
            <a:srgbClr val="1F2937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9632" y="2564892"/>
            <a:ext cx="1911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0" y="2679192"/>
            <a:ext cx="411480" cy="0"/>
          </a:xfrm>
          <a:prstGeom prst="line">
            <a:avLst/>
          </a:prstGeom>
          <a:noFill/>
          <a:ln w="15875">
            <a:solidFill>
              <a:srgbClr val="9EF01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778240" y="2240280"/>
            <a:ext cx="2057400" cy="868680"/>
          </a:xfrm>
          <a:prstGeom prst="rect">
            <a:avLst/>
          </a:prstGeom>
          <a:solidFill>
            <a:srgbClr val="1F2937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1392" y="2564892"/>
            <a:ext cx="1911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API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005840" y="4434840"/>
            <a:ext cx="1325880" cy="301752"/>
          </a:xfrm>
          <a:prstGeom prst="rect">
            <a:avLst/>
          </a:prstGeom>
          <a:solidFill>
            <a:srgbClr val="9EF01A"/>
          </a:solidFill>
          <a:ln w="9525">
            <a:solidFill>
              <a:srgbClr val="9EF0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507992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Laravel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063240" y="4434840"/>
            <a:ext cx="1325880" cy="301752"/>
          </a:xfrm>
          <a:prstGeom prst="rect">
            <a:avLst/>
          </a:prstGeom>
          <a:solidFill>
            <a:srgbClr val="FBBF24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63240" y="4507992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120640" y="4434840"/>
            <a:ext cx="1325880" cy="301752"/>
          </a:xfrm>
          <a:prstGeom prst="rect">
            <a:avLst/>
          </a:prstGeom>
          <a:solidFill>
            <a:srgbClr val="38BDF8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4507992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178040" y="4434840"/>
            <a:ext cx="1325880" cy="301752"/>
          </a:xfrm>
          <a:prstGeom prst="rect">
            <a:avLst/>
          </a:prstGeom>
          <a:solidFill>
            <a:srgbClr val="A78BFA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78040" y="4507992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9235440" y="4434840"/>
            <a:ext cx="1325880" cy="301752"/>
          </a:xfrm>
          <a:prstGeom prst="rect">
            <a:avLst/>
          </a:prstGeom>
          <a:solidFill>
            <a:srgbClr val="9EF01A"/>
          </a:solidFill>
          <a:ln w="9525">
            <a:solidFill>
              <a:srgbClr val="9EF0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35440" y="4507992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API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868680" y="4892040"/>
            <a:ext cx="3886200" cy="1051560"/>
          </a:xfrm>
          <a:prstGeom prst="rect">
            <a:avLst/>
          </a:prstGeom>
          <a:solidFill>
            <a:srgbClr val="263449"/>
          </a:solidFill>
          <a:ln w="9525">
            <a:solidFill>
              <a:srgbClr val="475569"/>
            </a:solidFill>
            <a:prstDash val="solid"/>
          </a:ln>
        </p:spPr>
      </p:sp>
      <p:pic>
        <p:nvPicPr>
          <p:cNvPr id="31" name="Image 0" descr="C:\xampp\htdocs\LMS\StackLearn\outputs\manual-stacklearn-ppt\assets\docx_media\word\media\image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4956048"/>
            <a:ext cx="3758184" cy="667512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978408" y="5687568"/>
            <a:ext cx="3666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 tổng thể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360920" y="4892040"/>
            <a:ext cx="3886200" cy="1051560"/>
          </a:xfrm>
          <a:prstGeom prst="rect">
            <a:avLst/>
          </a:prstGeom>
          <a:solidFill>
            <a:srgbClr val="263449"/>
          </a:solidFill>
          <a:ln w="9525">
            <a:solidFill>
              <a:srgbClr val="475569"/>
            </a:solidFill>
            <a:prstDash val="solid"/>
          </a:ln>
        </p:spPr>
      </p:sp>
      <p:pic>
        <p:nvPicPr>
          <p:cNvPr id="34" name="Image 1" descr="C:\xampp\htdocs\LMS\StackLearn\outputs\manual-stacklearn-ppt\assets\docx_media\word\media\image1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4928" y="4956048"/>
            <a:ext cx="3758184" cy="667512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7470648" y="5687568"/>
            <a:ext cx="3666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Mô-đun AI Tutor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EF01A"/>
          </a:solidFill>
          <a:ln w="12700">
            <a:solidFill>
              <a:srgbClr val="9EF0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73152"/>
            <a:ext cx="2487168" cy="6784848"/>
          </a:xfrm>
          <a:prstGeom prst="rect">
            <a:avLst/>
          </a:prstGeom>
          <a:solidFill>
            <a:srgbClr val="111827">
              <a:alpha val="92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EF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1 - LMS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2179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nhóm người dùng chia vai trò rõ ràng trong toàn bộ vòng đời khóa học.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StackLearn | LMS + AI Tutor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94360" y="12070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EF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tác nhân hệ thống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1783080"/>
            <a:ext cx="3063240" cy="3794760"/>
          </a:xfrm>
          <a:prstGeom prst="rect">
            <a:avLst/>
          </a:prstGeom>
          <a:solidFill>
            <a:srgbClr val="1F2937"/>
          </a:solidFill>
          <a:ln w="9525">
            <a:solidFill>
              <a:srgbClr val="9EF0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0756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9EF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207008" y="2953512"/>
            <a:ext cx="82296" cy="82296"/>
          </a:xfrm>
          <a:prstGeom prst="rect">
            <a:avLst/>
          </a:prstGeom>
          <a:solidFill>
            <a:srgbClr val="9EF01A"/>
          </a:solidFill>
          <a:ln w="12700">
            <a:solidFill>
              <a:srgbClr val="9EF0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08176" y="288036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tập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207008" y="3410712"/>
            <a:ext cx="82296" cy="82296"/>
          </a:xfrm>
          <a:prstGeom prst="rect">
            <a:avLst/>
          </a:prstGeom>
          <a:solidFill>
            <a:srgbClr val="9EF01A"/>
          </a:solidFill>
          <a:ln w="12700">
            <a:solidFill>
              <a:srgbClr val="9EF0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08176" y="333756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Làm quiz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207008" y="3867912"/>
            <a:ext cx="82296" cy="82296"/>
          </a:xfrm>
          <a:prstGeom prst="rect">
            <a:avLst/>
          </a:prstGeom>
          <a:solidFill>
            <a:srgbClr val="9EF01A"/>
          </a:solidFill>
          <a:ln w="12700">
            <a:solidFill>
              <a:srgbClr val="9EF0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08176" y="379476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AI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526280" y="1783080"/>
            <a:ext cx="3063240" cy="3794760"/>
          </a:xfrm>
          <a:prstGeom prst="rect">
            <a:avLst/>
          </a:prstGeom>
          <a:solidFill>
            <a:srgbClr val="1F2937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0756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4910328" y="2953512"/>
            <a:ext cx="82296" cy="8229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11496" y="288036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Tạo khóa học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910328" y="3410712"/>
            <a:ext cx="82296" cy="8229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11496" y="333756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bài giảng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910328" y="3867912"/>
            <a:ext cx="82296" cy="8229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11496" y="379476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 dõi học viên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229600" y="1783080"/>
            <a:ext cx="3063240" cy="3794760"/>
          </a:xfrm>
          <a:prstGeom prst="rect">
            <a:avLst/>
          </a:prstGeom>
          <a:solidFill>
            <a:srgbClr val="1F2937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58200" y="20756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8613648" y="2953512"/>
            <a:ext cx="82296" cy="8229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14816" y="288036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hệ thống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8613648" y="3410712"/>
            <a:ext cx="82296" cy="8229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14816" y="333756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Duyệt khóa học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8613648" y="3867912"/>
            <a:ext cx="82296" cy="8229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14816" y="379476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Giám sát giao dịch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EF01A"/>
          </a:solidFill>
          <a:ln w="12700">
            <a:solidFill>
              <a:srgbClr val="9EF0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73152"/>
            <a:ext cx="2487168" cy="6784848"/>
          </a:xfrm>
          <a:prstGeom prst="rect">
            <a:avLst/>
          </a:prstGeom>
          <a:solidFill>
            <a:srgbClr val="111827">
              <a:alpha val="92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EF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CHỨC NĂNG LMS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2179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nghiệp vụ chính được tổ chức theo vai trò sử dụng.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StackLearn | LMS + AI Tutor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31520" y="1691640"/>
            <a:ext cx="3154680" cy="4297680"/>
          </a:xfrm>
          <a:prstGeom prst="rect">
            <a:avLst/>
          </a:prstGeom>
          <a:solidFill>
            <a:srgbClr val="1F2937"/>
          </a:solidFill>
          <a:ln w="9525">
            <a:solidFill>
              <a:srgbClr val="9EF0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691640"/>
            <a:ext cx="3154680" cy="530352"/>
          </a:xfrm>
          <a:prstGeom prst="rect">
            <a:avLst/>
          </a:prstGeom>
          <a:solidFill>
            <a:srgbClr val="9EF01A"/>
          </a:solidFill>
          <a:ln w="9525">
            <a:solidFill>
              <a:srgbClr val="9EF0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856232"/>
            <a:ext cx="3154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78992" y="2651760"/>
            <a:ext cx="2468880" cy="384048"/>
          </a:xfrm>
          <a:prstGeom prst="rect">
            <a:avLst/>
          </a:prstGeom>
          <a:solidFill>
            <a:srgbClr val="1F2937"/>
          </a:solidFill>
          <a:ln w="9525">
            <a:solidFill>
              <a:srgbClr val="9EF0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52144" y="2734056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ký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078992" y="3291840"/>
            <a:ext cx="2468880" cy="384048"/>
          </a:xfrm>
          <a:prstGeom prst="rect">
            <a:avLst/>
          </a:prstGeom>
          <a:solidFill>
            <a:srgbClr val="1F2937"/>
          </a:solidFill>
          <a:ln w="9525">
            <a:solidFill>
              <a:srgbClr val="9EF0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52144" y="3374136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nhập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078992" y="3931920"/>
            <a:ext cx="2468880" cy="384048"/>
          </a:xfrm>
          <a:prstGeom prst="rect">
            <a:avLst/>
          </a:prstGeom>
          <a:solidFill>
            <a:srgbClr val="1F2937"/>
          </a:solidFill>
          <a:ln w="9525">
            <a:solidFill>
              <a:srgbClr val="9EF0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52144" y="4014216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Ghi danh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078992" y="4572000"/>
            <a:ext cx="2468880" cy="384048"/>
          </a:xfrm>
          <a:prstGeom prst="rect">
            <a:avLst/>
          </a:prstGeom>
          <a:solidFill>
            <a:srgbClr val="1F2937"/>
          </a:solidFill>
          <a:ln w="9525">
            <a:solidFill>
              <a:srgbClr val="9EF0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52144" y="4654296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tập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480560" y="1691640"/>
            <a:ext cx="3154680" cy="4297680"/>
          </a:xfrm>
          <a:prstGeom prst="rect">
            <a:avLst/>
          </a:prstGeom>
          <a:solidFill>
            <a:srgbClr val="1F2937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80560" y="1691640"/>
            <a:ext cx="3154680" cy="530352"/>
          </a:xfrm>
          <a:prstGeom prst="rect">
            <a:avLst/>
          </a:prstGeom>
          <a:solidFill>
            <a:srgbClr val="38BDF8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1856232"/>
            <a:ext cx="3154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28032" y="2651760"/>
            <a:ext cx="2468880" cy="384048"/>
          </a:xfrm>
          <a:prstGeom prst="rect">
            <a:avLst/>
          </a:prstGeom>
          <a:solidFill>
            <a:srgbClr val="1F2937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01184" y="2734056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Tạo khóa học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28032" y="3291840"/>
            <a:ext cx="2468880" cy="384048"/>
          </a:xfrm>
          <a:prstGeom prst="rect">
            <a:avLst/>
          </a:prstGeom>
          <a:solidFill>
            <a:srgbClr val="1F2937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01184" y="3374136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video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828032" y="3931920"/>
            <a:ext cx="2468880" cy="384048"/>
          </a:xfrm>
          <a:prstGeom prst="rect">
            <a:avLst/>
          </a:prstGeom>
          <a:solidFill>
            <a:srgbClr val="1F2937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01184" y="4014216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Tạo quiz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828032" y="4572000"/>
            <a:ext cx="2468880" cy="384048"/>
          </a:xfrm>
          <a:prstGeom prst="rect">
            <a:avLst/>
          </a:prstGeom>
          <a:solidFill>
            <a:srgbClr val="1F2937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01184" y="4654296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bài giảng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229600" y="1691640"/>
            <a:ext cx="3154680" cy="4297680"/>
          </a:xfrm>
          <a:prstGeom prst="rect">
            <a:avLst/>
          </a:prstGeom>
          <a:solidFill>
            <a:srgbClr val="1F2937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29600" y="1691640"/>
            <a:ext cx="3154680" cy="530352"/>
          </a:xfrm>
          <a:prstGeom prst="rect">
            <a:avLst/>
          </a:prstGeom>
          <a:solidFill>
            <a:srgbClr val="FBBF24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0" y="1856232"/>
            <a:ext cx="3154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577072" y="2651760"/>
            <a:ext cx="2468880" cy="384048"/>
          </a:xfrm>
          <a:prstGeom prst="rect">
            <a:avLst/>
          </a:prstGeom>
          <a:solidFill>
            <a:srgbClr val="1F2937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50224" y="2734056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user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577072" y="3291840"/>
            <a:ext cx="2468880" cy="384048"/>
          </a:xfrm>
          <a:prstGeom prst="rect">
            <a:avLst/>
          </a:prstGeom>
          <a:solidFill>
            <a:srgbClr val="1F2937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50224" y="3374136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Duyệt khóa học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577072" y="3931920"/>
            <a:ext cx="2468880" cy="384048"/>
          </a:xfrm>
          <a:prstGeom prst="rect">
            <a:avLst/>
          </a:prstGeom>
          <a:solidFill>
            <a:srgbClr val="1F2937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50224" y="4014216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thanh toán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577072" y="4572000"/>
            <a:ext cx="2468880" cy="384048"/>
          </a:xfrm>
          <a:prstGeom prst="rect">
            <a:avLst/>
          </a:prstGeom>
          <a:solidFill>
            <a:srgbClr val="1F2937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50224" y="4654296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Cấu hình hệ thống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EF01A"/>
          </a:solidFill>
          <a:ln w="12700">
            <a:solidFill>
              <a:srgbClr val="9EF0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73152"/>
            <a:ext cx="2487168" cy="6784848"/>
          </a:xfrm>
          <a:prstGeom prst="rect">
            <a:avLst/>
          </a:prstGeom>
          <a:solidFill>
            <a:srgbClr val="111827">
              <a:alpha val="92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EF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TRÌNH HỌC TẬP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2179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đăng ký đến theo dõi tiến độ là một luồng học tập khép kín.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StackLearn | LMS + AI Tutor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1051560" cy="658368"/>
          </a:xfrm>
          <a:prstGeom prst="rect">
            <a:avLst/>
          </a:prstGeom>
          <a:solidFill>
            <a:srgbClr val="1F2937"/>
          </a:solidFill>
          <a:ln w="9525">
            <a:solidFill>
              <a:srgbClr val="9EF0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962656"/>
            <a:ext cx="905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370332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ký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755648" y="3072384"/>
            <a:ext cx="548640" cy="0"/>
          </a:xfrm>
          <a:prstGeom prst="line">
            <a:avLst/>
          </a:prstGeom>
          <a:noFill/>
          <a:ln w="15875">
            <a:solidFill>
              <a:srgbClr val="9EF01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514600" y="2743200"/>
            <a:ext cx="1051560" cy="658368"/>
          </a:xfrm>
          <a:prstGeom prst="rect">
            <a:avLst/>
          </a:prstGeom>
          <a:solidFill>
            <a:srgbClr val="1F2937"/>
          </a:solidFill>
          <a:ln w="9525">
            <a:solidFill>
              <a:srgbClr val="9EF0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87752" y="2962656"/>
            <a:ext cx="905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331720" y="370332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Ghi danh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30168" y="3072384"/>
            <a:ext cx="548640" cy="0"/>
          </a:xfrm>
          <a:prstGeom prst="line">
            <a:avLst/>
          </a:prstGeom>
          <a:noFill/>
          <a:ln w="15875">
            <a:solidFill>
              <a:srgbClr val="9EF01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389120" y="2743200"/>
            <a:ext cx="1051560" cy="658368"/>
          </a:xfrm>
          <a:prstGeom prst="rect">
            <a:avLst/>
          </a:prstGeom>
          <a:solidFill>
            <a:srgbClr val="1F2937"/>
          </a:solidFill>
          <a:ln w="9525">
            <a:solidFill>
              <a:srgbClr val="9EF0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62272" y="2962656"/>
            <a:ext cx="905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206240" y="370332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Thanh toán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504688" y="3072384"/>
            <a:ext cx="548640" cy="0"/>
          </a:xfrm>
          <a:prstGeom prst="line">
            <a:avLst/>
          </a:prstGeom>
          <a:noFill/>
          <a:ln w="15875">
            <a:solidFill>
              <a:srgbClr val="9EF01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263640" y="2743200"/>
            <a:ext cx="1051560" cy="658368"/>
          </a:xfrm>
          <a:prstGeom prst="rect">
            <a:avLst/>
          </a:prstGeom>
          <a:solidFill>
            <a:srgbClr val="1F2937"/>
          </a:solidFill>
          <a:ln w="9525">
            <a:solidFill>
              <a:srgbClr val="9EF0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36792" y="2962656"/>
            <a:ext cx="905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080760" y="370332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bài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79208" y="3072384"/>
            <a:ext cx="548640" cy="0"/>
          </a:xfrm>
          <a:prstGeom prst="line">
            <a:avLst/>
          </a:prstGeom>
          <a:noFill/>
          <a:ln w="15875">
            <a:solidFill>
              <a:srgbClr val="9EF01A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138160" y="2743200"/>
            <a:ext cx="1051560" cy="658368"/>
          </a:xfrm>
          <a:prstGeom prst="rect">
            <a:avLst/>
          </a:prstGeom>
          <a:solidFill>
            <a:srgbClr val="1F2937"/>
          </a:solidFill>
          <a:ln w="9525">
            <a:solidFill>
              <a:srgbClr val="9EF0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11312" y="2962656"/>
            <a:ext cx="905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955280" y="370332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Làm quiz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253728" y="3072384"/>
            <a:ext cx="548640" cy="0"/>
          </a:xfrm>
          <a:prstGeom prst="line">
            <a:avLst/>
          </a:prstGeom>
          <a:noFill/>
          <a:ln w="15875">
            <a:solidFill>
              <a:srgbClr val="9EF01A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012680" y="2743200"/>
            <a:ext cx="1051560" cy="658368"/>
          </a:xfrm>
          <a:prstGeom prst="rect">
            <a:avLst/>
          </a:prstGeom>
          <a:solidFill>
            <a:srgbClr val="1F2937"/>
          </a:solidFill>
          <a:ln w="9525">
            <a:solidFill>
              <a:srgbClr val="9EF0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85832" y="2962656"/>
            <a:ext cx="905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829800" y="370332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 dõi tiến độ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148840" y="5166360"/>
            <a:ext cx="7863840" cy="502920"/>
          </a:xfrm>
          <a:prstGeom prst="rect">
            <a:avLst/>
          </a:prstGeom>
          <a:solidFill>
            <a:srgbClr val="263449"/>
          </a:solidFill>
          <a:ln w="9525">
            <a:solidFill>
              <a:srgbClr val="4755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31720" y="5349240"/>
            <a:ext cx="7498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Luồng học tập được liên kết với đơn hàng, thanh toán, quiz và bảng tiến độ.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EF01A"/>
          </a:solidFill>
          <a:ln w="12700">
            <a:solidFill>
              <a:srgbClr val="9EF0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73152"/>
            <a:ext cx="2487168" cy="6784848"/>
          </a:xfrm>
          <a:prstGeom prst="rect">
            <a:avLst/>
          </a:prstGeom>
          <a:solidFill>
            <a:srgbClr val="111827">
              <a:alpha val="92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EF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SỞ DỮ LIỆU LMS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2179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hình dữ liệu được giản lược thành các nhóm bảng cốt lõi.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StackLearn | LMS + AI Tutor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914400" y="1828800"/>
            <a:ext cx="1600200" cy="502920"/>
          </a:xfrm>
          <a:prstGeom prst="rect">
            <a:avLst/>
          </a:prstGeom>
          <a:solidFill>
            <a:srgbClr val="1F2937"/>
          </a:solidFill>
          <a:ln w="9525">
            <a:solidFill>
              <a:srgbClr val="9EF0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970532"/>
            <a:ext cx="1453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0" y="1554480"/>
            <a:ext cx="1600200" cy="502920"/>
          </a:xfrm>
          <a:prstGeom prst="rect">
            <a:avLst/>
          </a:prstGeom>
          <a:solidFill>
            <a:srgbClr val="1F2937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30752" y="1696212"/>
            <a:ext cx="1453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1554480"/>
            <a:ext cx="1600200" cy="502920"/>
          </a:xfrm>
          <a:prstGeom prst="rect">
            <a:avLst/>
          </a:prstGeom>
          <a:solidFill>
            <a:srgbClr val="1F2937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73952" y="1696212"/>
            <a:ext cx="1453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0" y="1828800"/>
            <a:ext cx="1600200" cy="502920"/>
          </a:xfrm>
          <a:prstGeom prst="rect">
            <a:avLst/>
          </a:prstGeom>
          <a:solidFill>
            <a:srgbClr val="1F2937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17152" y="1970532"/>
            <a:ext cx="1453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828800" y="4206240"/>
            <a:ext cx="1600200" cy="502920"/>
          </a:xfrm>
          <a:prstGeom prst="rect">
            <a:avLst/>
          </a:prstGeom>
          <a:solidFill>
            <a:srgbClr val="1F2937"/>
          </a:solidFill>
          <a:ln w="9525">
            <a:solidFill>
              <a:srgbClr val="9EF0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01952" y="4347972"/>
            <a:ext cx="1453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4480560"/>
            <a:ext cx="1600200" cy="502920"/>
          </a:xfrm>
          <a:prstGeom prst="rect">
            <a:avLst/>
          </a:prstGeom>
          <a:solidFill>
            <a:srgbClr val="1F2937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45152" y="4622292"/>
            <a:ext cx="1453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0" y="4480560"/>
            <a:ext cx="1600200" cy="502920"/>
          </a:xfrm>
          <a:prstGeom prst="rect">
            <a:avLst/>
          </a:prstGeom>
          <a:solidFill>
            <a:srgbClr val="1F2937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88352" y="4622292"/>
            <a:ext cx="1453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058400" y="4206240"/>
            <a:ext cx="1600200" cy="502920"/>
          </a:xfrm>
          <a:prstGeom prst="rect">
            <a:avLst/>
          </a:prstGeom>
          <a:solidFill>
            <a:srgbClr val="1F2937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131552" y="4347972"/>
            <a:ext cx="1453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075688"/>
            <a:ext cx="1143000" cy="-274320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257800" y="1801368"/>
            <a:ext cx="1143000" cy="0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257800" y="1801368"/>
            <a:ext cx="3886200" cy="274320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744200" y="2075688"/>
            <a:ext cx="-8915400" cy="2377440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429000" y="4453128"/>
            <a:ext cx="1143000" cy="274320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001000" y="1801368"/>
            <a:ext cx="-685800" cy="2926080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915400" y="4727448"/>
            <a:ext cx="1143000" cy="-274320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2514600" y="2075688"/>
            <a:ext cx="6629400" cy="0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2514600" y="2075688"/>
            <a:ext cx="7543800" cy="2377440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2971800" y="587044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trình bày ERD đầy đủ để giữ slide tập trung vào luồng dữ liệu nghiệp vụ.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EF01A"/>
          </a:solidFill>
          <a:ln w="12700">
            <a:solidFill>
              <a:srgbClr val="9EF0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73152"/>
            <a:ext cx="2487168" cy="6784848"/>
          </a:xfrm>
          <a:prstGeom prst="rect">
            <a:avLst/>
          </a:prstGeom>
          <a:solidFill>
            <a:srgbClr val="111827">
              <a:alpha val="92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EF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 LMS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2179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màn hình chính đã được triển khai trong hệ thống StackLearn.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StackLearn | LMS + AI Tutor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85800" y="1572768"/>
            <a:ext cx="5303520" cy="2029968"/>
          </a:xfrm>
          <a:prstGeom prst="rect">
            <a:avLst/>
          </a:prstGeom>
          <a:solidFill>
            <a:srgbClr val="263449"/>
          </a:solidFill>
          <a:ln w="9525">
            <a:solidFill>
              <a:srgbClr val="475569"/>
            </a:solidFill>
            <a:prstDash val="solid"/>
          </a:ln>
        </p:spPr>
      </p:sp>
      <p:pic>
        <p:nvPicPr>
          <p:cNvPr id="10" name="Image 0" descr="C:\xampp\htdocs\LMS\StackLearn\outputs\manual-stacklearn-ppt\assets\docx_media\word\media\image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636776"/>
            <a:ext cx="5175504" cy="1645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95528" y="3346704"/>
            <a:ext cx="5084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Trang chủ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6199632" y="1572768"/>
            <a:ext cx="5303520" cy="2029968"/>
          </a:xfrm>
          <a:prstGeom prst="rect">
            <a:avLst/>
          </a:prstGeom>
          <a:solidFill>
            <a:srgbClr val="263449"/>
          </a:solidFill>
          <a:ln w="9525">
            <a:solidFill>
              <a:srgbClr val="475569"/>
            </a:solidFill>
            <a:prstDash val="solid"/>
          </a:ln>
        </p:spPr>
      </p:sp>
      <p:pic>
        <p:nvPicPr>
          <p:cNvPr id="13" name="Image 1" descr="C:\xampp\htdocs\LMS\StackLearn\outputs\manual-stacklearn-ppt\assets\docx_media\word\media\image2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36776"/>
            <a:ext cx="5175504" cy="1645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309360" y="3346704"/>
            <a:ext cx="5084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Danh sách khóa học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685800" y="3886200"/>
            <a:ext cx="5303520" cy="2029968"/>
          </a:xfrm>
          <a:prstGeom prst="rect">
            <a:avLst/>
          </a:prstGeom>
          <a:solidFill>
            <a:srgbClr val="263449"/>
          </a:solidFill>
          <a:ln w="9525">
            <a:solidFill>
              <a:srgbClr val="475569"/>
            </a:solidFill>
            <a:prstDash val="solid"/>
          </a:ln>
        </p:spPr>
      </p:sp>
      <p:pic>
        <p:nvPicPr>
          <p:cNvPr id="16" name="Image 2" descr="C:\xampp\htdocs\LMS\StackLearn\outputs\manual-stacklearn-ppt\assets\docx_media\word\media\image2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950208"/>
            <a:ext cx="5175504" cy="1645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95528" y="5660136"/>
            <a:ext cx="5084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Bài học</a:t>
            </a:r>
            <a:endParaRPr lang="en-US" sz="800" dirty="0"/>
          </a:p>
        </p:txBody>
      </p:sp>
      <p:sp>
        <p:nvSpPr>
          <p:cNvPr id="18" name="Shape 13"/>
          <p:cNvSpPr/>
          <p:nvPr/>
        </p:nvSpPr>
        <p:spPr>
          <a:xfrm>
            <a:off x="6199632" y="3886200"/>
            <a:ext cx="5303520" cy="2029968"/>
          </a:xfrm>
          <a:prstGeom prst="rect">
            <a:avLst/>
          </a:prstGeom>
          <a:solidFill>
            <a:srgbClr val="263449"/>
          </a:solidFill>
          <a:ln w="9525">
            <a:solidFill>
              <a:srgbClr val="475569"/>
            </a:solidFill>
            <a:prstDash val="solid"/>
          </a:ln>
        </p:spPr>
      </p:sp>
      <p:pic>
        <p:nvPicPr>
          <p:cNvPr id="19" name="Image 3" descr="C:\xampp\htdocs\LMS\StackLearn\outputs\manual-stacklearn-ppt\assets\docx_media\word\media\image2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3950208"/>
            <a:ext cx="5175504" cy="16459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309360" y="5660136"/>
            <a:ext cx="5084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EF01A"/>
          </a:solidFill>
          <a:ln w="12700">
            <a:solidFill>
              <a:srgbClr val="9EF0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73152"/>
            <a:ext cx="2487168" cy="6784848"/>
          </a:xfrm>
          <a:prstGeom prst="rect">
            <a:avLst/>
          </a:prstGeom>
          <a:solidFill>
            <a:srgbClr val="111827">
              <a:alpha val="92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EF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2 - AI TUTOR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2179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Tutor biến LMS từ nơi cung cấp nội dung thành môi trường hỗ trợ tự học.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StackLearn | LMS + AI Tutor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68680" y="1828800"/>
            <a:ext cx="4754880" cy="3566160"/>
          </a:xfrm>
          <a:prstGeom prst="rect">
            <a:avLst/>
          </a:prstGeom>
          <a:solidFill>
            <a:srgbClr val="1F2937"/>
          </a:solidFill>
          <a:ln w="9525">
            <a:solidFill>
              <a:srgbClr val="F8717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1828800"/>
            <a:ext cx="4754880" cy="3566160"/>
          </a:xfrm>
          <a:prstGeom prst="rect">
            <a:avLst/>
          </a:prstGeom>
          <a:solidFill>
            <a:srgbClr val="1F2937"/>
          </a:solidFill>
          <a:ln w="9525">
            <a:solidFill>
              <a:srgbClr val="9EF0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14884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LMS truyền thống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766560" y="214884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9EF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Tutor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1325880" y="2926080"/>
            <a:ext cx="82296" cy="82296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27048" y="285292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 cung cấp nội dung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325880" y="3383280"/>
            <a:ext cx="82296" cy="82296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27048" y="331012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giải đáp thắc mắc tức thời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325880" y="3840480"/>
            <a:ext cx="82296" cy="82296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27048" y="376732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Phụ thuộc nhiều vào giảng viên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995160" y="2926080"/>
            <a:ext cx="82296" cy="82296"/>
          </a:xfrm>
          <a:prstGeom prst="rect">
            <a:avLst/>
          </a:prstGeom>
          <a:solidFill>
            <a:srgbClr val="9EF01A"/>
          </a:solidFill>
          <a:ln w="12700">
            <a:solidFill>
              <a:srgbClr val="9EF0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96328" y="285292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Hỏi đáp 24/7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995160" y="3383280"/>
            <a:ext cx="82296" cy="82296"/>
          </a:xfrm>
          <a:prstGeom prst="rect">
            <a:avLst/>
          </a:prstGeom>
          <a:solidFill>
            <a:srgbClr val="9EF01A"/>
          </a:solidFill>
          <a:ln w="12700">
            <a:solidFill>
              <a:srgbClr val="9EF0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96328" y="331012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Giải thích bài học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995160" y="3840480"/>
            <a:ext cx="82296" cy="82296"/>
          </a:xfrm>
          <a:prstGeom prst="rect">
            <a:avLst/>
          </a:prstGeom>
          <a:solidFill>
            <a:srgbClr val="9EF01A"/>
          </a:solidFill>
          <a:ln w="12700">
            <a:solidFill>
              <a:srgbClr val="9EF0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96328" y="376732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Hỗ trợ tự học theo ngữ cảnh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EF01A"/>
          </a:solidFill>
          <a:ln w="12700">
            <a:solidFill>
              <a:srgbClr val="9EF0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73152"/>
            <a:ext cx="2487168" cy="6784848"/>
          </a:xfrm>
          <a:prstGeom prst="rect">
            <a:avLst/>
          </a:prstGeom>
          <a:solidFill>
            <a:srgbClr val="111827">
              <a:alpha val="92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EF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 AI TUTOR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2179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Luồng hỏi đáp AI đi qua lớp xây dựng ngữ cảnh trước khi gọi Gemini API.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StackLearn | LMS + AI Tutor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097280" y="2423160"/>
            <a:ext cx="1645920" cy="658368"/>
          </a:xfrm>
          <a:prstGeom prst="rect">
            <a:avLst/>
          </a:prstGeom>
          <a:solidFill>
            <a:srgbClr val="1F2937"/>
          </a:solidFill>
          <a:ln w="9525">
            <a:solidFill>
              <a:srgbClr val="9EF0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642616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788920" y="2752344"/>
            <a:ext cx="384048" cy="0"/>
          </a:xfrm>
          <a:prstGeom prst="line">
            <a:avLst/>
          </a:prstGeom>
          <a:noFill/>
          <a:ln w="15875">
            <a:solidFill>
              <a:srgbClr val="9EF01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246120" y="2423160"/>
            <a:ext cx="1645920" cy="658368"/>
          </a:xfrm>
          <a:prstGeom prst="rect">
            <a:avLst/>
          </a:prstGeom>
          <a:solidFill>
            <a:srgbClr val="1F2937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9272" y="2642616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Tutor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937760" y="2752344"/>
            <a:ext cx="384048" cy="0"/>
          </a:xfrm>
          <a:prstGeom prst="line">
            <a:avLst/>
          </a:prstGeom>
          <a:noFill/>
          <a:ln w="15875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394960" y="2423160"/>
            <a:ext cx="1645920" cy="658368"/>
          </a:xfrm>
          <a:prstGeom prst="rect">
            <a:avLst/>
          </a:prstGeom>
          <a:solidFill>
            <a:srgbClr val="1F2937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68112" y="2642616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Builder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086600" y="2752344"/>
            <a:ext cx="384048" cy="0"/>
          </a:xfrm>
          <a:prstGeom prst="line">
            <a:avLst/>
          </a:prstGeom>
          <a:noFill/>
          <a:ln w="15875">
            <a:solidFill>
              <a:srgbClr val="FBBF2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543800" y="2423160"/>
            <a:ext cx="1645920" cy="658368"/>
          </a:xfrm>
          <a:prstGeom prst="rect">
            <a:avLst/>
          </a:prstGeom>
          <a:solidFill>
            <a:srgbClr val="1F2937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16952" y="2642616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API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235440" y="2752344"/>
            <a:ext cx="384048" cy="0"/>
          </a:xfrm>
          <a:prstGeom prst="line">
            <a:avLst/>
          </a:prstGeom>
          <a:noFill/>
          <a:ln w="15875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692640" y="2423160"/>
            <a:ext cx="1645920" cy="658368"/>
          </a:xfrm>
          <a:prstGeom prst="rect">
            <a:avLst/>
          </a:prstGeom>
          <a:solidFill>
            <a:srgbClr val="1F2937"/>
          </a:solidFill>
          <a:ln w="9525">
            <a:solidFill>
              <a:srgbClr val="9EF0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65792" y="2642616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2057400" y="4069080"/>
            <a:ext cx="8046720" cy="1353312"/>
          </a:xfrm>
          <a:prstGeom prst="rect">
            <a:avLst/>
          </a:prstGeom>
          <a:solidFill>
            <a:srgbClr val="263449"/>
          </a:solidFill>
          <a:ln w="9525">
            <a:solidFill>
              <a:srgbClr val="475569"/>
            </a:solidFill>
            <a:prstDash val="solid"/>
          </a:ln>
        </p:spPr>
      </p:sp>
      <p:pic>
        <p:nvPicPr>
          <p:cNvPr id="24" name="Image 0" descr="C:\xampp\htdocs\LMS\StackLearn\outputs\manual-stacklearn-ppt\assets\docx_media\word\media\image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1408" y="4133088"/>
            <a:ext cx="7918704" cy="969264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2167128" y="5166360"/>
            <a:ext cx="7827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 hoạt động của mô-đun AI Tutor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1874520" y="58064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Tutor không gửi câu hỏi thô, mà bổ sung Course, Lesson, Transcript và Chat History.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EF01A"/>
          </a:solidFill>
          <a:ln w="12700">
            <a:solidFill>
              <a:srgbClr val="9EF0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73152"/>
            <a:ext cx="2487168" cy="6784848"/>
          </a:xfrm>
          <a:prstGeom prst="rect">
            <a:avLst/>
          </a:prstGeom>
          <a:solidFill>
            <a:srgbClr val="111827">
              <a:alpha val="92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EF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CONTEXT-AWARE AI TUTOR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2179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khác biệt của StackLearn là trả lời theo bài học đang học.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StackLearn | LMS + AI Tutor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31520" y="1691640"/>
            <a:ext cx="4434840" cy="4251960"/>
          </a:xfrm>
          <a:prstGeom prst="rect">
            <a:avLst/>
          </a:prstGeom>
          <a:solidFill>
            <a:srgbClr val="1F2937"/>
          </a:solidFill>
          <a:ln w="9525">
            <a:solidFill>
              <a:srgbClr val="4755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15000" y="1691640"/>
            <a:ext cx="5715000" cy="4251960"/>
          </a:xfrm>
          <a:prstGeom prst="rect">
            <a:avLst/>
          </a:prstGeom>
          <a:solidFill>
            <a:srgbClr val="1F2937"/>
          </a:solidFill>
          <a:ln w="9525">
            <a:solidFill>
              <a:srgbClr val="9EF0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01168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Thông thường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965960" y="2606040"/>
            <a:ext cx="1920240" cy="457200"/>
          </a:xfrm>
          <a:prstGeom prst="rect">
            <a:avLst/>
          </a:prstGeom>
          <a:solidFill>
            <a:srgbClr val="1F2937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39112" y="2724912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926080" y="3090672"/>
            <a:ext cx="0" cy="292608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965960" y="3429000"/>
            <a:ext cx="1920240" cy="457200"/>
          </a:xfrm>
          <a:prstGeom prst="rect">
            <a:avLst/>
          </a:prstGeom>
          <a:solidFill>
            <a:srgbClr val="1F2937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39112" y="3547872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926080" y="3913632"/>
            <a:ext cx="0" cy="292608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965960" y="4251960"/>
            <a:ext cx="1920240" cy="457200"/>
          </a:xfrm>
          <a:prstGeom prst="rect">
            <a:avLst/>
          </a:prstGeom>
          <a:solidFill>
            <a:srgbClr val="1F2937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39112" y="4370832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89320" y="2011680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EF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StackLearn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172200" y="2514600"/>
            <a:ext cx="1965960" cy="329184"/>
          </a:xfrm>
          <a:prstGeom prst="rect">
            <a:avLst/>
          </a:prstGeom>
          <a:solidFill>
            <a:srgbClr val="1F2937"/>
          </a:solidFill>
          <a:ln w="9525">
            <a:solidFill>
              <a:srgbClr val="9EF0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45352" y="2569464"/>
            <a:ext cx="1819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72200" y="3017520"/>
            <a:ext cx="1965960" cy="329184"/>
          </a:xfrm>
          <a:prstGeom prst="rect">
            <a:avLst/>
          </a:prstGeom>
          <a:solidFill>
            <a:srgbClr val="1F2937"/>
          </a:solidFill>
          <a:ln w="9525">
            <a:solidFill>
              <a:srgbClr val="9EF0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45352" y="3072384"/>
            <a:ext cx="1819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72200" y="3520440"/>
            <a:ext cx="1965960" cy="329184"/>
          </a:xfrm>
          <a:prstGeom prst="rect">
            <a:avLst/>
          </a:prstGeom>
          <a:solidFill>
            <a:srgbClr val="1F2937"/>
          </a:solidFill>
          <a:ln w="9525">
            <a:solidFill>
              <a:srgbClr val="9EF0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45352" y="3575304"/>
            <a:ext cx="1819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72200" y="4023360"/>
            <a:ext cx="1965960" cy="329184"/>
          </a:xfrm>
          <a:prstGeom prst="rect">
            <a:avLst/>
          </a:prstGeom>
          <a:solidFill>
            <a:srgbClr val="1F2937"/>
          </a:solidFill>
          <a:ln w="9525">
            <a:solidFill>
              <a:srgbClr val="9EF0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45352" y="4078224"/>
            <a:ext cx="1819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Transcript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72200" y="4526280"/>
            <a:ext cx="1965960" cy="329184"/>
          </a:xfrm>
          <a:prstGeom prst="rect">
            <a:avLst/>
          </a:prstGeom>
          <a:solidFill>
            <a:srgbClr val="1F2937"/>
          </a:solidFill>
          <a:ln w="9525">
            <a:solidFill>
              <a:srgbClr val="9EF0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45352" y="4581144"/>
            <a:ext cx="1819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History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275320" y="3502152"/>
            <a:ext cx="685800" cy="0"/>
          </a:xfrm>
          <a:prstGeom prst="line">
            <a:avLst/>
          </a:prstGeom>
          <a:noFill/>
          <a:ln w="15875">
            <a:solidFill>
              <a:srgbClr val="9EF01A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098280" y="3127248"/>
            <a:ext cx="1554480" cy="676656"/>
          </a:xfrm>
          <a:prstGeom prst="rect">
            <a:avLst/>
          </a:prstGeom>
          <a:solidFill>
            <a:srgbClr val="1F2937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71432" y="3355848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9875520" y="3840480"/>
            <a:ext cx="0" cy="621792"/>
          </a:xfrm>
          <a:prstGeom prst="line">
            <a:avLst/>
          </a:prstGeom>
          <a:noFill/>
          <a:ln w="15875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641080" y="4617720"/>
            <a:ext cx="2468880" cy="493776"/>
          </a:xfrm>
          <a:prstGeom prst="rect">
            <a:avLst/>
          </a:prstGeom>
          <a:solidFill>
            <a:srgbClr val="1F2937"/>
          </a:solidFill>
          <a:ln w="9525">
            <a:solidFill>
              <a:srgbClr val="9EF0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14232" y="4754880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theo bài học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EF01A"/>
          </a:solidFill>
          <a:ln w="12700">
            <a:solidFill>
              <a:srgbClr val="9EF0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73152"/>
            <a:ext cx="2487168" cy="6784848"/>
          </a:xfrm>
          <a:prstGeom prst="rect">
            <a:avLst/>
          </a:prstGeom>
          <a:solidFill>
            <a:srgbClr val="111827">
              <a:alpha val="92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EF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TUTOR HOẠT ĐỘNG NHƯ THẾ NÀO?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2179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hỏi được bổ sung ngữ cảnh, đóng gói thành prompt và lưu lại lịch sử học tập.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StackLearn | LMS + AI Tutor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94360" y="1737360"/>
            <a:ext cx="1417320" cy="475488"/>
          </a:xfrm>
          <a:prstGeom prst="rect">
            <a:avLst/>
          </a:prstGeom>
          <a:solidFill>
            <a:srgbClr val="1F2937"/>
          </a:solidFill>
          <a:ln w="9525">
            <a:solidFill>
              <a:srgbClr val="9EF0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1865376"/>
            <a:ext cx="1271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viên hỏi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039112" y="1975104"/>
            <a:ext cx="292608" cy="0"/>
          </a:xfrm>
          <a:prstGeom prst="line">
            <a:avLst/>
          </a:prstGeom>
          <a:noFill/>
          <a:ln w="15875">
            <a:solidFill>
              <a:srgbClr val="9EF01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468880" y="1737360"/>
            <a:ext cx="1417320" cy="475488"/>
          </a:xfrm>
          <a:prstGeom prst="rect">
            <a:avLst/>
          </a:prstGeom>
          <a:solidFill>
            <a:srgbClr val="1F2937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42032" y="1865376"/>
            <a:ext cx="1271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Truy xuất ngữ cảnh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913632" y="1975104"/>
            <a:ext cx="292608" cy="0"/>
          </a:xfrm>
          <a:prstGeom prst="line">
            <a:avLst/>
          </a:prstGeom>
          <a:noFill/>
          <a:ln w="15875">
            <a:solidFill>
              <a:srgbClr val="9EF01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343400" y="1737360"/>
            <a:ext cx="1417320" cy="475488"/>
          </a:xfrm>
          <a:prstGeom prst="rect">
            <a:avLst/>
          </a:prstGeom>
          <a:solidFill>
            <a:srgbClr val="1F2937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16552" y="1865376"/>
            <a:ext cx="1271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Tạo Prompt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788152" y="1975104"/>
            <a:ext cx="292608" cy="0"/>
          </a:xfrm>
          <a:prstGeom prst="line">
            <a:avLst/>
          </a:prstGeom>
          <a:noFill/>
          <a:ln w="15875">
            <a:solidFill>
              <a:srgbClr val="9EF01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217920" y="1737360"/>
            <a:ext cx="1417320" cy="475488"/>
          </a:xfrm>
          <a:prstGeom prst="rect">
            <a:avLst/>
          </a:prstGeom>
          <a:solidFill>
            <a:srgbClr val="1F2937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91072" y="1865376"/>
            <a:ext cx="1271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API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662672" y="1975104"/>
            <a:ext cx="292608" cy="0"/>
          </a:xfrm>
          <a:prstGeom prst="line">
            <a:avLst/>
          </a:prstGeom>
          <a:noFill/>
          <a:ln w="15875">
            <a:solidFill>
              <a:srgbClr val="9EF01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092440" y="1737360"/>
            <a:ext cx="1417320" cy="475488"/>
          </a:xfrm>
          <a:prstGeom prst="rect">
            <a:avLst/>
          </a:prstGeom>
          <a:solidFill>
            <a:srgbClr val="1F2937"/>
          </a:solidFill>
          <a:ln w="9525">
            <a:solidFill>
              <a:srgbClr val="9EF0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65592" y="1865376"/>
            <a:ext cx="1271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Phản hồi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537192" y="1975104"/>
            <a:ext cx="292608" cy="0"/>
          </a:xfrm>
          <a:prstGeom prst="line">
            <a:avLst/>
          </a:prstGeom>
          <a:noFill/>
          <a:ln w="15875">
            <a:solidFill>
              <a:srgbClr val="9EF01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966960" y="1737360"/>
            <a:ext cx="1417320" cy="475488"/>
          </a:xfrm>
          <a:prstGeom prst="rect">
            <a:avLst/>
          </a:prstGeom>
          <a:solidFill>
            <a:srgbClr val="1F2937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40112" y="1865376"/>
            <a:ext cx="1271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lịch sử chat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057400" y="3063240"/>
            <a:ext cx="1600200" cy="301752"/>
          </a:xfrm>
          <a:prstGeom prst="rect">
            <a:avLst/>
          </a:prstGeom>
          <a:solidFill>
            <a:srgbClr val="9EF01A"/>
          </a:solidFill>
          <a:ln w="9525">
            <a:solidFill>
              <a:srgbClr val="9EF0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57400" y="3136392"/>
            <a:ext cx="1600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023360" y="3063240"/>
            <a:ext cx="1417320" cy="301752"/>
          </a:xfrm>
          <a:prstGeom prst="rect">
            <a:avLst/>
          </a:prstGeom>
          <a:solidFill>
            <a:srgbClr val="38BDF8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23360" y="3136392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Context-Aware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989320" y="3063240"/>
            <a:ext cx="1417320" cy="301752"/>
          </a:xfrm>
          <a:prstGeom prst="rect">
            <a:avLst/>
          </a:prstGeom>
          <a:solidFill>
            <a:srgbClr val="FBBF24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89320" y="3136392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7955280" y="3063240"/>
            <a:ext cx="1417320" cy="301752"/>
          </a:xfrm>
          <a:prstGeom prst="rect">
            <a:avLst/>
          </a:prstGeom>
          <a:solidFill>
            <a:srgbClr val="A78BFA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55280" y="3136392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Transcript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874520" y="3913632"/>
            <a:ext cx="8458200" cy="1572768"/>
          </a:xfrm>
          <a:prstGeom prst="rect">
            <a:avLst/>
          </a:prstGeom>
          <a:solidFill>
            <a:srgbClr val="263449"/>
          </a:solidFill>
          <a:ln w="9525">
            <a:solidFill>
              <a:srgbClr val="475569"/>
            </a:solidFill>
            <a:prstDash val="solid"/>
          </a:ln>
        </p:spPr>
      </p:sp>
      <p:pic>
        <p:nvPicPr>
          <p:cNvPr id="35" name="Image 0" descr="C:\xampp\htdocs\LMS\StackLearn\outputs\manual-stacklearn-ppt\assets\docx_media\word\media\image3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8528" y="3977640"/>
            <a:ext cx="8330184" cy="118872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1984248" y="5230368"/>
            <a:ext cx="8238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trình truy xuất ngữ cảnh cho AI Tutor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EF01A"/>
          </a:solidFill>
          <a:ln w="12700">
            <a:solidFill>
              <a:srgbClr val="9EF0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73152"/>
            <a:ext cx="2487168" cy="6784848"/>
          </a:xfrm>
          <a:prstGeom prst="rect">
            <a:avLst/>
          </a:prstGeom>
          <a:solidFill>
            <a:srgbClr val="111827">
              <a:alpha val="92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EF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QUẢ, KẾT LUẬN VÀ HƯỚNG PHÁT TRIỂN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2179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StackLearn đã hoàn thiện LMS cốt lõi và chứng minh giá trị AI Tutor.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StackLearn | LMS + AI Tutor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EF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68680" y="2496312"/>
            <a:ext cx="82296" cy="82296"/>
          </a:xfrm>
          <a:prstGeom prst="rect">
            <a:avLst/>
          </a:prstGeom>
          <a:solidFill>
            <a:srgbClr val="9EF01A"/>
          </a:solidFill>
          <a:ln w="12700">
            <a:solidFill>
              <a:srgbClr val="9EF0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9848" y="242316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LMS hoàn chỉnh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68680" y="2953512"/>
            <a:ext cx="82296" cy="82296"/>
          </a:xfrm>
          <a:prstGeom prst="rect">
            <a:avLst/>
          </a:prstGeom>
          <a:solidFill>
            <a:srgbClr val="9EF01A"/>
          </a:solidFill>
          <a:ln w="12700">
            <a:solidFill>
              <a:srgbClr val="9EF0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288036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Tutor hoạt động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68680" y="3410712"/>
            <a:ext cx="82296" cy="82296"/>
          </a:xfrm>
          <a:prstGeom prst="rect">
            <a:avLst/>
          </a:prstGeom>
          <a:solidFill>
            <a:srgbClr val="9EF01A"/>
          </a:solidFill>
          <a:ln w="12700">
            <a:solidFill>
              <a:srgbClr val="9EF0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9848" y="333756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Tích hợp Gemini API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68680" y="3867912"/>
            <a:ext cx="82296" cy="82296"/>
          </a:xfrm>
          <a:prstGeom prst="rect">
            <a:avLst/>
          </a:prstGeom>
          <a:solidFill>
            <a:srgbClr val="9EF01A"/>
          </a:solidFill>
          <a:ln w="12700">
            <a:solidFill>
              <a:srgbClr val="9EF0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9848" y="379476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Hỗ trợ học tập theo ngữ cảnh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00800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Hướng phát triển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446520" y="2496312"/>
            <a:ext cx="82296" cy="8229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47688" y="242316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46520" y="2953512"/>
            <a:ext cx="82296" cy="8229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47688" y="288036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Recommendation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446520" y="3410712"/>
            <a:ext cx="82296" cy="8229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47688" y="333756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với Vector Database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46520" y="3867912"/>
            <a:ext cx="82296" cy="8229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47688" y="379476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AI Tutor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446520" y="4325112"/>
            <a:ext cx="82296" cy="8229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47688" y="425196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tích học tập bằng AI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3337560" y="5166360"/>
            <a:ext cx="5486400" cy="621792"/>
          </a:xfrm>
          <a:prstGeom prst="rect">
            <a:avLst/>
          </a:prstGeom>
          <a:solidFill>
            <a:srgbClr val="263449"/>
          </a:solidFill>
          <a:ln w="9525">
            <a:solidFill>
              <a:srgbClr val="9EF0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84448" y="5394960"/>
            <a:ext cx="4983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luận: StackLearn nâng cấp LMS truyền thống bằng trợ giảng AI theo ngữ cảnh bài học.</a:t>
            </a:r>
            <a:endParaRPr lang="en-US" sz="10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EF01A"/>
          </a:solidFill>
          <a:ln w="12700">
            <a:solidFill>
              <a:srgbClr val="9EF0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73152"/>
            <a:ext cx="2487168" cy="6784848"/>
          </a:xfrm>
          <a:prstGeom prst="rect">
            <a:avLst/>
          </a:prstGeom>
          <a:solidFill>
            <a:srgbClr val="111827">
              <a:alpha val="92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3317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XIN CẢM ƠN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EF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297680" y="3977640"/>
            <a:ext cx="3566160" cy="0"/>
          </a:xfrm>
          <a:prstGeom prst="line">
            <a:avLst/>
          </a:prstGeom>
          <a:noFill/>
          <a:ln w="25400">
            <a:solidFill>
              <a:srgbClr val="9EF01A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StackLearn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StackLearn AI Tutor</dc:title>
  <dc:subject>StackLearn - LMS tich hop AI Tutor</dc:subject>
  <dc:creator>Nguyen Ngoc Khanh</dc:creator>
  <cp:lastModifiedBy>Nguyen Ngoc Khanh</cp:lastModifiedBy>
  <cp:revision>1</cp:revision>
  <dcterms:created xsi:type="dcterms:W3CDTF">2026-06-08T02:33:30Z</dcterms:created>
  <dcterms:modified xsi:type="dcterms:W3CDTF">2026-06-08T02:33:30Z</dcterms:modified>
</cp:coreProperties>
</file>